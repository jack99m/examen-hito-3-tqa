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21040" y="640080"/>
            <a:ext cx="3200400" cy="2926080"/>
          </a:xfrm>
          <a:prstGeom prst="roundRect">
            <a:avLst/>
          </a:prstGeom>
          <a:solidFill>
            <a:srgbClr val="26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66751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AAD2FF"/>
                </a:solidFill>
                <a:latin typeface="Aptos"/>
              </a:defRPr>
            </a:pPr>
            <a:r>
              <a:t>TESTING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58368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EXAMEN PRÁCTICO</a:t>
            </a:r>
          </a:p>
          <a:p>
            <a:pPr algn="l"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HITO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640080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E0E9FF"/>
                </a:solidFill>
                <a:latin typeface="Aptos"/>
              </a:defRPr>
            </a:pPr>
            <a:r>
              <a:t>Caja negra · Caja blanca · Gherkin · Bugs ·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51960"/>
            <a:ext cx="3246120" cy="685800"/>
          </a:xfrm>
          <a:prstGeom prst="round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453128"/>
            <a:ext cx="283464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34F"/>
                </a:solidFill>
                <a:latin typeface="Aptos"/>
              </a:defRPr>
            </a:pPr>
            <a:r>
              <a:t>¡Manos a la práctica! 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097280"/>
            <a:ext cx="265176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28800"/>
            <a:ext cx="2468880" cy="8229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Diseñar</a:t>
            </a:r>
          </a:p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Probar</a:t>
            </a:r>
          </a:p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Documentar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886200"/>
            <a:ext cx="3108960" cy="12344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Aplica técnicas de prueba y organiza tu trabajo en un repositorio.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72200"/>
            <a:ext cx="64008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D7DFF3"/>
                </a:solidFill>
                <a:latin typeface="Aptos"/>
              </a:defRPr>
            </a:pPr>
            <a:r>
              <a:t>Modalidad individual · Tiempo sugerido: 90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9491"/>
                </a:solidFill>
                <a:latin typeface="Aptos"/>
              </a:defRPr>
            </a:pPr>
            <a:r>
              <a:t>INICIO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¿Qué vas a realizar?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Aplicar técnicas de prueba sobre una aplicación real de demostración.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320040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1" y="1828800"/>
            <a:ext cx="3447288" cy="3200400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🧪 Diseñar y ejecutar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3108960" cy="2514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Crear 5 casos de caja negra y ejecutar pruebas en SauceDemo.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73152" cy="320040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6552" y="1828800"/>
            <a:ext cx="3447288" cy="3200400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💻 Analizar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95728"/>
            <a:ext cx="3108960" cy="2514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Revisar código Python, identificar condiciones y determinar la cobertura solicitada.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73152" cy="320040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19872" y="1828800"/>
            <a:ext cx="3447288" cy="3200400"/>
          </a:xfrm>
          <a:prstGeom prst="roundRect">
            <a:avLst/>
          </a:prstGeom>
          <a:solidFill>
            <a:srgbClr val="E0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🐞 Documentar y gestionar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395728"/>
            <a:ext cx="3108960" cy="2514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Registrar bugs y organizar archivos y actividades con Git y GitHub.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789920" cy="411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El trabajo debe quedar documentado en un PDF y organizado en GitHub.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A63D9"/>
                </a:solidFill>
                <a:latin typeface="Aptos"/>
              </a:defRPr>
            </a:pPr>
            <a:r>
              <a:t>01 · APLICACIÓN BAJO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SauceDemo (Swag Labs)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Sitio de demostración para practicar pruebas funcionales.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4937760" cy="3657600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43891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A63D9"/>
                </a:solidFill>
                <a:latin typeface="Aptos"/>
              </a:defRPr>
            </a:pPr>
            <a:r>
              <a:t>🌐 URL DE PRUEBA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4389120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6234F"/>
                </a:solidFill>
                <a:latin typeface="Aptos"/>
              </a:defRPr>
            </a:pPr>
            <a:r>
              <a:t>https://www.saucedemo.com/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297680" cy="19202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2C3D"/>
                </a:solidFill>
                <a:latin typeface="Aptos"/>
              </a:defRPr>
            </a:pPr>
            <a:r>
              <a:t>Explora las funcionalidades y selecciona las que permitan diseñar pruebas relevantes.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2C3D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242C3D"/>
                </a:solidFill>
                <a:latin typeface="Aptos"/>
              </a:defRPr>
            </a:pPr>
            <a:r>
              <a:t>Utiliza los usuarios de demostración indicados en la página.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737360"/>
            <a:ext cx="73152" cy="1024128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62472" y="1737360"/>
            <a:ext cx="5367528" cy="1024128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50292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Inicio de sesión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04288"/>
            <a:ext cx="5029200" cy="33832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Validación de credenciales y acceso.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971800"/>
            <a:ext cx="73152" cy="1024128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62472" y="2971800"/>
            <a:ext cx="5367528" cy="1024128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108960"/>
            <a:ext cx="50292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Catálogo y carrito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38728"/>
            <a:ext cx="5029200" cy="33832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Productos, filtros, agregar y eliminar.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206240"/>
            <a:ext cx="73152" cy="1024128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62472" y="4206240"/>
            <a:ext cx="5367528" cy="1024128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343400"/>
            <a:ext cx="50292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Compra y navegación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73168"/>
            <a:ext cx="5029200" cy="33832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Checkout, formularios y navegación.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44F"/>
                </a:solidFill>
                <a:latin typeface="Aptos"/>
              </a:defRPr>
            </a:pPr>
            <a:r>
              <a:t>Registra solo comportamientos reproducibles y descríbelos con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F43C9"/>
                </a:solidFill>
                <a:latin typeface="Aptos"/>
              </a:defRPr>
            </a:pPr>
            <a:r>
              <a:t>02 · ACTIVIDADES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Actividades del examen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Completa las actividades y conserva evidencia del trabajo realizado.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44200" cy="621792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65376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🧪 Caja negra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65376"/>
            <a:ext cx="24231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2C3D"/>
                </a:solidFill>
                <a:latin typeface="Aptos"/>
              </a:defRPr>
            </a:pPr>
            <a:r>
              <a:t>5 casos funcionales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65376"/>
            <a:ext cx="49834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Diseñar, ejecutar y registrar resultados.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50591"/>
            <a:ext cx="10744200" cy="621792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78608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💻 Caja blanca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78608"/>
            <a:ext cx="24231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2C3D"/>
                </a:solidFill>
                <a:latin typeface="Aptos"/>
              </a:defRPr>
            </a:pPr>
            <a:r>
              <a:t>3 casos diseñados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578608"/>
            <a:ext cx="49834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Analizar código y justificar cobertura.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63824"/>
            <a:ext cx="10744200" cy="621792"/>
          </a:xfrm>
          <a:prstGeom prst="roundRect">
            <a:avLst/>
          </a:prstGeom>
          <a:solidFill>
            <a:srgbClr val="E0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291840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💬 Gherkin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91840"/>
            <a:ext cx="24231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2C3D"/>
                </a:solidFill>
                <a:latin typeface="Aptos"/>
              </a:defRPr>
            </a:pPr>
            <a:r>
              <a:t>Actividad adicional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291840"/>
            <a:ext cx="49834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Redactar escenarios Given / When / Then.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77056"/>
            <a:ext cx="10744200" cy="621792"/>
          </a:xfrm>
          <a:prstGeom prst="round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05072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🐞 Bugs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005072"/>
            <a:ext cx="24231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2C3D"/>
                </a:solidFill>
                <a:latin typeface="Aptos"/>
              </a:defRPr>
            </a:pPr>
            <a:r>
              <a:t>Defectos reproducibles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005072"/>
            <a:ext cx="49834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Documentar pasos, resultados y evidencia.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90288"/>
            <a:ext cx="10744200" cy="621792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718304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🐙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718304"/>
            <a:ext cx="24231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2C3D"/>
                </a:solidFill>
                <a:latin typeface="Aptos"/>
              </a:defRPr>
            </a:pPr>
            <a:r>
              <a:t>1 repositorio individual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718304"/>
            <a:ext cx="49834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README, Markdown, Issues y Board.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744200" cy="621792"/>
          </a:xfrm>
          <a:prstGeom prst="roundRect">
            <a:avLst/>
          </a:prstGeom>
          <a:solidFill>
            <a:srgbClr val="E4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31536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📄 Informe 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431536"/>
            <a:ext cx="24231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42C3D"/>
                </a:solidFill>
                <a:latin typeface="Aptos"/>
              </a:defRPr>
            </a:pPr>
            <a:r>
              <a:t>1 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431536"/>
            <a:ext cx="49834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Consolidar resultados y conclusiones.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A63D9"/>
                </a:solidFill>
                <a:latin typeface="Aptos"/>
              </a:defRPr>
            </a:pPr>
            <a:r>
              <a:t>03 · CAJA NEGRA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Diseña 5 casos de prueba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Prueba el comportamiento de SauceDemo desde la perspectiva del usuario.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6446520" cy="4160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Selecciona funcionalidades relevantes.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Define objetivo y datos de cada caso.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Incluye precondiciones, pasos, resultado esperado y obtenido.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Ejecuta cada caso y registra Passed o Failed.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Adjunta capturas cuando aporten evidencia.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Documenta por separado los bugs reproducibles.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828800"/>
            <a:ext cx="73152" cy="347472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6952" y="1828800"/>
            <a:ext cx="3721608" cy="3474720"/>
          </a:xfrm>
          <a:prstGeom prst="roundRect">
            <a:avLst/>
          </a:prstGeom>
          <a:solidFill>
            <a:srgbClr val="E0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965960"/>
            <a:ext cx="338328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Ideas de funcionalidades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95728"/>
            <a:ext cx="3383280" cy="2788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Inicio de sesión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Agregar productos al carrito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Eliminar productos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Completar checkout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Validar campos obligatorios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Navegar entre páginas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33272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Los 5 casos deben ser distintos y tener un propósito claro.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A63D9"/>
                </a:solidFill>
                <a:latin typeface="Aptos"/>
              </a:defRPr>
            </a:pPr>
            <a:r>
              <a:t>03 · CAJA NEGRA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¿Qué debe contener cada caso?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Utiliza la plantilla de casos de prueba proporcionada en la materia.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52760" cy="493776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ID y título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77724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Identificador único y nombre breve.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04288"/>
            <a:ext cx="10652760" cy="493776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95728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Precondiciones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95728"/>
            <a:ext cx="77724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Estado inicial necesario para la prueba.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71216"/>
            <a:ext cx="10652760" cy="493776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62656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Datos de prueba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962656"/>
            <a:ext cx="77724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Usuario, producto, cantidad u otros datos.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38144"/>
            <a:ext cx="10652760" cy="493776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29584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Pasos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529584"/>
            <a:ext cx="77724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Acciones concretas, ordenadas y reproducibles.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05072"/>
            <a:ext cx="10652760" cy="493776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96511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096511"/>
            <a:ext cx="77724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Comportamiento correcto esperado.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72000"/>
            <a:ext cx="10652760" cy="493776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63440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Resultado obtenido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663440"/>
            <a:ext cx="77724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Comportamiento observado en ejecución.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38928"/>
            <a:ext cx="10652760" cy="493776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30368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Estado y evidencia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230368"/>
            <a:ext cx="777240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Passed / Failed y captura si corresponde.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F43C9"/>
                </a:solidFill>
                <a:latin typeface="Aptos"/>
              </a:defRPr>
            </a:pPr>
            <a:r>
              <a:t>04 · CAJA BLANCA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Analiza el código proporcionado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Lee la lógica, identifica las condiciones y diseña casos para cubrirlas.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537960" cy="4251960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6126480" cy="3749039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def validar_compra(edad, cuenta_activa, saldo, monto):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    if edad &lt; 18: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        return "Compra no permitida: edad"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    if not cuenta_activa: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        return "Compra no permitida: cuenta"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    if saldo &gt;= monto and monto &gt; 0: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        return "Compra aprobada"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16234F"/>
                </a:solidFill>
                <a:latin typeface="Consolas"/>
              </a:defRPr>
            </a:pPr>
            <a:r>
              <a:t>    return "Compra rechazada"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783080"/>
            <a:ext cx="73152" cy="123444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16952" y="1783080"/>
            <a:ext cx="3767328" cy="1234440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34290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Entradas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50008"/>
            <a:ext cx="3429000" cy="5486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edad, cuenta_activa, saldo, monto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246120"/>
            <a:ext cx="73152" cy="123444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16952" y="3246120"/>
            <a:ext cx="3767328" cy="1234440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383279"/>
            <a:ext cx="34290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Salidas posibles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13048"/>
            <a:ext cx="3429000" cy="5486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No permitida / Aprobada / Rechazada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4709160"/>
            <a:ext cx="73152" cy="109728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16952" y="4709160"/>
            <a:ext cx="3767328" cy="1097280"/>
          </a:xfrm>
          <a:prstGeom prst="round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846320"/>
            <a:ext cx="34290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Analiza la lógica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276088"/>
            <a:ext cx="3429000" cy="411479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Identifica decisiones y condiciones antes de diseñar pruebas.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F43C9"/>
                </a:solidFill>
                <a:latin typeface="Aptos"/>
              </a:defRPr>
            </a:pPr>
            <a:r>
              <a:t>04 · CAJA BLANCA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¿Qué debes entregar?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Realiza el análisis del fragmento de código anterior.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515600" cy="42062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Identifica las decisiones y condiciones simples del código.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Indica el criterio utilizado: sentencias, decisiones o condiciones.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Determina el mínimo de casos para el criterio y explica el cálculo.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Diseña 3 casos con valores de entrada concretos.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Para cada caso, indica el resultado esperado y qué condición o decisión cubre.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Si los 3 casos no alcanzan el criterio, explica qué ajuste sería necesario.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715000"/>
            <a:ext cx="10241280" cy="457200"/>
          </a:xfrm>
          <a:prstGeom prst="round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815584"/>
            <a:ext cx="98755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6234F"/>
                </a:solidFill>
                <a:latin typeface="Aptos"/>
              </a:defRPr>
            </a:pPr>
            <a:r>
              <a:t>No existe un mínimo universal: depende del código y del criterio de cobertura.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F43C9"/>
                </a:solidFill>
                <a:latin typeface="Aptos"/>
              </a:defRPr>
            </a:pPr>
            <a:r>
              <a:t>04 · CAJA BLANCA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Criterios de cobertura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Utiliza las definiciones trabajadas en clase para justificar tu análisis.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41732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828800"/>
            <a:ext cx="5184648" cy="1417320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Cobertura de sentencias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8"/>
            <a:ext cx="484632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Ejecutar cada sentencia relevante al menos una vez.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141732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5184648" cy="1417320"/>
          </a:xfrm>
          <a:prstGeom prst="roundRect">
            <a:avLst/>
          </a:prstGeom>
          <a:solidFill>
            <a:srgbClr val="E0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65960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Cobertura de decisiones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4632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Cada decisión toma sus resultados posibles: verdadero y falso.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3657600"/>
            <a:ext cx="5184648" cy="1417320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Cobertura de condiciones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24528"/>
            <a:ext cx="484632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Cada condición simple es verdadera y falsa al menos una vez.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73152" cy="141732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1072" y="3657600"/>
            <a:ext cx="5184648" cy="1417320"/>
          </a:xfrm>
          <a:prstGeom prst="round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794760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Justificación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24528"/>
            <a:ext cx="484632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Muestra qué caso cubre cada resultado y por qué es suficiente.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42416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CD444F"/>
                </a:solidFill>
                <a:latin typeface="Aptos"/>
              </a:defRPr>
            </a:pPr>
            <a:r>
              <a:t>No confundas cobertura de decisiones con cobertura de condiciones.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9491"/>
                </a:solidFill>
                <a:latin typeface="Aptos"/>
              </a:defRPr>
            </a:pPr>
            <a:r>
              <a:t>05 · ACTIVIDAD ADICIONAL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Gherkin: redacta escenarios BDD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Describe el comportamiento de una funcionalidad de SauceDemo.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577840" cy="40233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Redacta al menos 2 escenarios.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Incluye uno exitoso y uno alternativo o de error.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Utiliza Feature, Scenario, Given, When y Then.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Los pasos deben ser claros y verificables.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Puedes agregar And o But cuando sea necesario.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783080"/>
            <a:ext cx="4754880" cy="3703320"/>
          </a:xfrm>
          <a:prstGeom prst="roundRect">
            <a:avLst/>
          </a:prstGeom>
          <a:solidFill>
            <a:srgbClr val="E0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343400" cy="32918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Feature: Inicio de sesión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Scenario: Acceso exitoso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  Given que estoy en la página de login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  When ingreso credenciales válidas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  Then debería acceder al catálogo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Scenario: Credenciales incorrectas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  Given que estoy en la página de login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  When ingreso credenciales inválidas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6234F"/>
                </a:solidFill>
                <a:latin typeface="Consolas"/>
              </a:defRPr>
            </a:pPr>
            <a:r>
              <a:t>    Then debería mostrarse un mensaje de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105156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6D80"/>
                </a:solidFill>
                <a:latin typeface="Aptos"/>
              </a:defRPr>
            </a:pPr>
            <a:r>
              <a:t>Gherkin describe escenarios; por sí solo no automatiza las pruebas.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D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D444F"/>
                </a:solidFill>
                <a:latin typeface="Aptos"/>
              </a:defRPr>
            </a:pPr>
            <a:r>
              <a:t>06 · REGISTRO DE DEFECTOS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Documenta los bugs encontrados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Registra defectos reproducibles durante la ejecución.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F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57200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6234F"/>
                </a:solidFill>
                <a:latin typeface="Aptos"/>
              </a:defRPr>
            </a:pPr>
            <a:r>
              <a:t>Cada reporte debe incluir: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526280" cy="31546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•  ID y título descriptivo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•  Descripción del problema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•  Precondiciones y datos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•  Pasos para reproducirlo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•  Resultado esperado y actual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•  Evidencia (captura)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•  Severidad o prioridad, si corresponde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1417320"/>
          </a:xfrm>
          <a:prstGeom prst="rect">
            <a:avLst/>
          </a:prstGeom>
          <a:solidFill>
            <a:srgbClr val="259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1828800"/>
            <a:ext cx="4956048" cy="1417320"/>
          </a:xfrm>
          <a:prstGeom prst="roundRect">
            <a:avLst/>
          </a:prstGeom>
          <a:solidFill>
            <a:srgbClr val="E4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6177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La prueba pasa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95728"/>
            <a:ext cx="461772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Registra Passed. No inventes un bug.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520440"/>
            <a:ext cx="73152" cy="1417320"/>
          </a:xfrm>
          <a:prstGeom prst="rect">
            <a:avLst/>
          </a:prstGeom>
          <a:solidFill>
            <a:srgbClr val="CD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6792" y="3520440"/>
            <a:ext cx="4956048" cy="1417320"/>
          </a:xfrm>
          <a:prstGeom prst="roundRect">
            <a:avLst/>
          </a:prstGeom>
          <a:solidFill>
            <a:srgbClr val="FF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46177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La prueba falla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87368"/>
            <a:ext cx="4617720" cy="7315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Registra lo observado y documenta el defecto reproducible.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45720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Relaciona la evidencia con el reporte.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6234F"/>
                </a:solidFill>
                <a:latin typeface="Aptos"/>
              </a:defRPr>
            </a:pPr>
            <a:r>
              <a:t>07 · GIT Y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Crea un repositorio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Todo el trabajo debe quedar organizado y versionado en GitHub.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37160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783080"/>
            <a:ext cx="5184648" cy="1371600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1. Crear el repositorio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0008"/>
            <a:ext cx="4846320" cy="6858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Nombre sugerido: Examen-Hito-3-TQA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73152" cy="137160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783080"/>
            <a:ext cx="5184648" cy="1371600"/>
          </a:xfrm>
          <a:prstGeom prst="roundRect">
            <a:avLst/>
          </a:prstGeom>
          <a:solidFill>
            <a:srgbClr val="E0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2. Agregar al docente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50008"/>
            <a:ext cx="4846320" cy="6858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Usa el correo institucional proporcionado y concede los permisos solicitados.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73152" cy="137160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3474720"/>
            <a:ext cx="5184648" cy="1371600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11879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3. Usar Git desde 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41648"/>
            <a:ext cx="4846320" cy="6858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Inicializa o clona, agrega archivos y registra commits descriptivos.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474720"/>
            <a:ext cx="73152" cy="137160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1072" y="3474720"/>
            <a:ext cx="5184648" cy="1371600"/>
          </a:xfrm>
          <a:prstGeom prst="round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611879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234F"/>
                </a:solidFill>
                <a:latin typeface="Aptos"/>
              </a:defRPr>
            </a:pPr>
            <a:r>
              <a:t>4. Subir los cambios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41648"/>
            <a:ext cx="4846320" cy="6858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2C3D"/>
                </a:solidFill>
                <a:latin typeface="Aptos"/>
              </a:defRPr>
            </a:pPr>
            <a:r>
              <a:t>Utiliza los comandos Git aprendidos durante las exposiciones.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86400"/>
            <a:ext cx="1033272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234F"/>
                </a:solidFill>
                <a:latin typeface="Aptos"/>
              </a:defRPr>
            </a:pPr>
            <a:r>
              <a:t>No realices toda la actividad únicamente desde la interfaz web: utiliza Git.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6234F"/>
                </a:solidFill>
                <a:latin typeface="Aptos"/>
              </a:defRPr>
            </a:pPr>
            <a:r>
              <a:t>07 · GIT Y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Estructura sugerida del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Puedes adaptarla si mantienes los documentos organizados.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6675120" cy="4343400"/>
          </a:xfrm>
          <a:prstGeom prst="roundRect">
            <a:avLst/>
          </a:prstGeom>
          <a:solidFill>
            <a:srgbClr val="1E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6126480" cy="3794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Examen-Hito-3-TQA/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├── README.md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├── docs/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│   ├── casos_caja_negra.md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│   ├── analisis_caja_blanca.md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│   └── escenarios_gherkin.md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├── bugs/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│   └── bugs_encontrados.md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├── evidencias/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│   └── capturas/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└── entregable/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└── informe_hito3.pdf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74519"/>
            <a:ext cx="73152" cy="114300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45552" y="1874519"/>
            <a:ext cx="3493008" cy="1143000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011679"/>
            <a:ext cx="3154679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441448"/>
            <a:ext cx="3154679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Propósito, URL probada y resumen.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291840"/>
            <a:ext cx="73152" cy="114300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45552" y="3291840"/>
            <a:ext cx="3493008" cy="1143000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429000"/>
            <a:ext cx="3154679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Archivos Markdown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858768"/>
            <a:ext cx="3154679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Casos, análisis, escenarios y bugs.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709160"/>
            <a:ext cx="73152" cy="114300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45552" y="4709160"/>
            <a:ext cx="3493008" cy="1143000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846320"/>
            <a:ext cx="3154679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Informe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276088"/>
            <a:ext cx="3154679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Documento final consolidado.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6234F"/>
                </a:solidFill>
                <a:latin typeface="Aptos"/>
              </a:defRPr>
            </a:pPr>
            <a:r>
              <a:t>07 · GITHUB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Organiza el trabajo con Issues y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Registra tareas y haz seguimiento del avance.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606040" cy="3337560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606040" cy="438912"/>
          </a:xfrm>
          <a:prstGeom prst="round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23317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To 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606040" cy="3337560"/>
          </a:xfrm>
          <a:prstGeom prst="round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2606040" cy="438912"/>
          </a:xfrm>
          <a:prstGeom prst="round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1938528"/>
            <a:ext cx="23317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06040" cy="3337560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06040" cy="438912"/>
          </a:xfrm>
          <a:prstGeom prst="round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38528"/>
            <a:ext cx="23317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In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828800"/>
            <a:ext cx="2606040" cy="3337560"/>
          </a:xfrm>
          <a:prstGeom prst="roundRect">
            <a:avLst/>
          </a:prstGeom>
          <a:solidFill>
            <a:srgbClr val="E4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1828800"/>
            <a:ext cx="2606040" cy="438912"/>
          </a:xfrm>
          <a:prstGeom prst="roundRect">
            <a:avLst/>
          </a:prstGeom>
          <a:solidFill>
            <a:srgbClr val="259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938528"/>
            <a:ext cx="23317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487168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" y="260604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Diseñar casos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200400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7" y="3319272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Analizar código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913632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7" y="4032504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Redactar Gherkin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2487168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260604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Ejecutar pruebas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200400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3319272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Registrar resultados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3913632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1608" y="4032504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Documentar bugs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2487168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260604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Revisar evidencias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200400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319272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Revisar informe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2487168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7" y="260604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Preparar PDF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3200400"/>
            <a:ext cx="23317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7" y="3319272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☐  Actualizar README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486400"/>
            <a:ext cx="1042416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234F"/>
                </a:solidFill>
                <a:latin typeface="Aptos"/>
              </a:defRPr>
            </a:pPr>
            <a:r>
              <a:t>Crea Issues para tareas y bugs. Describe qué debe hacerse y enlaza archivos o evidencias.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A6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A63D9"/>
                </a:solidFill>
                <a:latin typeface="Aptos"/>
              </a:defRPr>
            </a:pPr>
            <a:r>
              <a:t>08 · ENTREGA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Prepara un único informe en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El informe debe resumir el trabajo y permitir entender los resultados.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6583680" cy="4251960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585216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6234F"/>
                </a:solidFill>
                <a:latin typeface="Aptos"/>
              </a:defRPr>
            </a:pPr>
            <a:r>
              <a:t>Contenido sugerido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5806440" cy="31546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 Introducción y URL de la aplicación probada.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 Los 5 casos de caja negra y sus resultados.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 Bugs encontrados y evidencias.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 Análisis de caja blanca: criterio, mínimo de casos y justificación.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 Escenarios Gherkin, como actividad adicional.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2C3D"/>
                </a:solidFill>
                <a:latin typeface="Aptos"/>
              </a:defRPr>
            </a:pPr>
            <a:r>
              <a:t>•  Conclusiones breves.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828800"/>
            <a:ext cx="73152" cy="123444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99831" y="1828800"/>
            <a:ext cx="3538728" cy="1234440"/>
          </a:xfrm>
          <a:prstGeom prst="roundRect">
            <a:avLst/>
          </a:prstGeom>
          <a:solidFill>
            <a:srgbClr val="E0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65960"/>
            <a:ext cx="32004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Formato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95728"/>
            <a:ext cx="3200400" cy="5486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PDF legible y bien organizado.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3383280"/>
            <a:ext cx="73152" cy="1234440"/>
          </a:xfrm>
          <a:prstGeom prst="rect">
            <a:avLst/>
          </a:prstGeom>
          <a:solidFill>
            <a:srgbClr val="6F4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99831" y="3383280"/>
            <a:ext cx="3538728" cy="1234440"/>
          </a:xfrm>
          <a:prstGeom prst="roundRect">
            <a:avLst/>
          </a:prstGeom>
          <a:solidFill>
            <a:srgbClr val="EF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520440"/>
            <a:ext cx="32004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Plantillas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950208"/>
            <a:ext cx="3200400" cy="5486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2C3D"/>
                </a:solidFill>
                <a:latin typeface="Aptos"/>
              </a:defRPr>
            </a:pPr>
            <a:r>
              <a:t>Utiliza las plantillas de la materia cuando corresponda.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4937760"/>
            <a:ext cx="73152" cy="91440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99831" y="4937760"/>
            <a:ext cx="3538728" cy="914400"/>
          </a:xfrm>
          <a:prstGeom prst="round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074920"/>
            <a:ext cx="3200400" cy="34747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234F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504688"/>
            <a:ext cx="32004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2C3D"/>
                </a:solidFill>
                <a:latin typeface="Aptos"/>
              </a:defRPr>
            </a:pPr>
            <a:r>
              <a:t>Incluye el PDF en el repositorio.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9491"/>
                </a:solidFill>
                <a:latin typeface="Aptos"/>
              </a:defRPr>
            </a:pPr>
            <a:r>
              <a:t>09 ·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234F"/>
                </a:solidFill>
                <a:latin typeface="Aptos"/>
              </a:defRPr>
            </a:pPr>
            <a:r>
              <a:t>¿Qué debes presentar?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36D80"/>
                </a:solidFill>
                <a:latin typeface="Aptos"/>
              </a:defRPr>
            </a:pPr>
            <a:r>
              <a:t>Entrega el enlace del repositorio y el informe final en PDF según Moodle.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E0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TQA · Examen práctico Hito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36576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6D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241280" cy="35661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Un repositorio individual con los archivos organizados.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Cinco casos de caja negra con resultados de ejecución.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Análisis del código de caja blanca y tres casos diseñados.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Bugs reproducibles documentados con evidencia.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Escenarios Gherkin como actividad adicional.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GitHub Project Board con Issues que reflejen las tareas.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42C3D"/>
                </a:solidFill>
                <a:latin typeface="Aptos"/>
              </a:defRPr>
            </a:pPr>
            <a:r>
              <a:t>•  Informe final consolidado en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623560"/>
            <a:ext cx="10287000" cy="502920"/>
          </a:xfrm>
          <a:prstGeom prst="roundRect">
            <a:avLst/>
          </a:prstGeom>
          <a:solidFill>
            <a:srgbClr val="16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742432"/>
            <a:ext cx="9829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¡Éxitos! Organiza tu trabajo, aplica las técnicas y documenta tus hallazgos.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